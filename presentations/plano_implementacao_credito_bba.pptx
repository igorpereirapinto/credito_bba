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sZK1Hac/jP0AwRyhJzJU9FP5H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3493008"/>
            <a:ext cx="9144000" cy="50292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77240" y="1298448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PLANO DE IMPLEMENTAÇÃO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1773936"/>
            <a:ext cx="7772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7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Crédito BBA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77240" y="2359152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2E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D7E2EE"/>
                </a:solidFill>
                <a:latin typeface="Arial"/>
                <a:ea typeface="Arial"/>
                <a:cs typeface="Arial"/>
                <a:sym typeface="Arial"/>
              </a:rPr>
              <a:t>Da análise ao ambiente de produção — roteiro de implantação da solução analítica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" y="2798064"/>
            <a:ext cx="1920240" cy="585216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77240" y="28163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4 Fases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77240" y="31089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880360" y="2798064"/>
            <a:ext cx="1920240" cy="585216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2880360" y="28163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14 Slides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2880360" y="31089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Entregáveis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983480" y="2798064"/>
            <a:ext cx="1920240" cy="585216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4983480" y="28163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6 Frentes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983480" y="31089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de Trabalho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086600" y="2798064"/>
            <a:ext cx="1920240" cy="585216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086600" y="281635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Quick Wins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086600" y="310896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30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77240" y="3694176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Igor  |  Analista de Dados Pleno  |  Março 2026  |  SQL Server · Amazon Athena · Amazon QuickSight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777240" y="3931920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Case Técnico — Crédito IBBA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DO PLANO DE IMPLEMENTAÇÃO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quê?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2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13547" y="837538"/>
            <a:ext cx="4206300" cy="347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13547" y="83753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IDENTIFICADO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13547" y="1239874"/>
            <a:ext cx="42063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Mockup HTML pronto mas desconectado de produção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KPIs validados manualmente — sem pipeline automatizado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Views SQL desenvolvidas mas não publicadas no Athena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Risco de leitura divergente entre camadas (SQL, dashboard, respostas)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757531" y="837538"/>
            <a:ext cx="4206300" cy="3474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757531" y="837538"/>
            <a:ext cx="4206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ESTE PLANO ENTREGA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57531" y="1239874"/>
            <a:ext cx="42063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Roteiro de implantação em 4 fases com quick wins em 30 dias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Evolução do mockup para ambiente QuickSight em produção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Governança das views SQL, regras e KPIs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50"/>
              <a:buFont typeface="Arial"/>
              <a:buChar char="•"/>
            </a:pPr>
            <a:r>
              <a:rPr b="0" i="0" lang="en-US" sz="10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Monitoramento contínuo e plano de crise operacionalizado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13547" y="3434434"/>
            <a:ext cx="86319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68995" y="3452722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Ganhos Esperados em 12 meses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06155" y="372704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7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&lt; 15%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06155" y="4037938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Concentração Tecnologia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709275" y="372704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7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&lt; 2%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709275" y="4037938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PD Média do portfólio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812395" y="372704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7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812395" y="4037938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Ops vencidas &gt; 180d s/ plano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915515" y="3727042"/>
            <a:ext cx="173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7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&gt;0,40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915515" y="4037938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Correlação Pearson pricing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LEITURA DO ESTADO ATUAL DO PROJETO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3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03132" y="878620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45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C3450"/>
                </a:solidFill>
                <a:latin typeface="Arial"/>
                <a:ea typeface="Arial"/>
                <a:cs typeface="Arial"/>
                <a:sym typeface="Arial"/>
              </a:rPr>
              <a:t>Já Entregue / Consolidado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29980" y="1189516"/>
            <a:ext cx="4206300" cy="4389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29980" y="1189516"/>
            <a:ext cx="45600" cy="4389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403132" y="1280956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F4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32316" y="1280956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Base Excel tratada — 72 clientes, 5 tabelas, deduplicação por PK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9980" y="1719868"/>
            <a:ext cx="4206300" cy="4389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29980" y="1719868"/>
            <a:ext cx="45600" cy="4389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03132" y="1811308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F4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32316" y="1811308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Scripts SQL — 2.264 linhas, 6 queries + 16 views analíticas (Athena)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9980" y="2250220"/>
            <a:ext cx="4206300" cy="4389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29980" y="2250220"/>
            <a:ext cx="45600" cy="4389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403132" y="2341660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F4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732316" y="2341660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 HTML interativo — 5 abas, filtros dinâmicos, 16+ charts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29980" y="2780572"/>
            <a:ext cx="4206300" cy="4389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29980" y="2780572"/>
            <a:ext cx="45600" cy="4389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03132" y="2872012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F4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32316" y="2872012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KPIs validados contra a base real: R$ 9,49 Bi, 25% descoberta, 791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9980" y="3310924"/>
            <a:ext cx="4206300" cy="4389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29980" y="3310924"/>
            <a:ext cx="45600" cy="4389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03132" y="3402364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F4B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32316" y="3402364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Análises adicionais: pricing, LGD, migração de rating, Z-Score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828828" y="878620"/>
            <a:ext cx="413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45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C3450"/>
                </a:solidFill>
                <a:latin typeface="Arial"/>
                <a:ea typeface="Arial"/>
                <a:cs typeface="Arial"/>
                <a:sym typeface="Arial"/>
              </a:rPr>
              <a:t>Lacunas para Evolução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755676" y="1189516"/>
            <a:ext cx="4206300" cy="438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755676" y="1189516"/>
            <a:ext cx="45600" cy="438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4828828" y="1280956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5158012" y="1280956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Pipeline S3→Glue→Athena→QuickSight não implantado em produção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755676" y="1719868"/>
            <a:ext cx="4206300" cy="438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755676" y="1719868"/>
            <a:ext cx="45600" cy="438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4828828" y="1811308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158012" y="1811308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Views SQL não publicadas como Named Queries no Athena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755676" y="2250220"/>
            <a:ext cx="4206300" cy="438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755676" y="2250220"/>
            <a:ext cx="45600" cy="4389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4828828" y="2341660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158012" y="2341660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Análises adicionais não recalculadas sobre a base real final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755676" y="2780572"/>
            <a:ext cx="4206300" cy="438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755676" y="2780572"/>
            <a:ext cx="45600" cy="4389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4828828" y="2872012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158012" y="2872012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 HTML sem versionamento ou auditoria de regras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755676" y="3310924"/>
            <a:ext cx="4206300" cy="438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755676" y="3310924"/>
            <a:ext cx="45600" cy="4389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4828828" y="3402364"/>
            <a:ext cx="27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3B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A73B5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158012" y="3402364"/>
            <a:ext cx="373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Documentação de governança e dicionário de dados incompletos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29980" y="3998448"/>
            <a:ext cx="8631900" cy="548700"/>
          </a:xfrm>
          <a:prstGeom prst="rect">
            <a:avLst/>
          </a:prstGeom>
          <a:solidFill>
            <a:srgbClr val="FEF3E8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57996" y="4035024"/>
            <a:ext cx="837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💡  Ponto de partida: a base analítica está sólida e validada. O esforço de implementação é de conexão, publicação e governança — não de reconstrução.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PRINCÍPIOS DE IMPLEMENTAÇÃO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Pilares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4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97114" y="804672"/>
            <a:ext cx="4279500" cy="1188600"/>
          </a:xfrm>
          <a:prstGeom prst="rect">
            <a:avLst/>
          </a:prstGeom>
          <a:solidFill>
            <a:srgbClr val="EBF4FF"/>
          </a:solidFill>
          <a:ln cap="flat" cmpd="sng" w="15225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297114" y="804672"/>
            <a:ext cx="54900" cy="11886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25130" y="886968"/>
            <a:ext cx="405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🔒  Confiabilidade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25130" y="1225296"/>
            <a:ext cx="40599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Toda métrica do dashboard deve rastrear-se a uma view SQL testada. Sem hardcodes de KPIs.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41098" y="804672"/>
            <a:ext cx="4279500" cy="1188600"/>
          </a:xfrm>
          <a:prstGeom prst="rect">
            <a:avLst/>
          </a:prstGeom>
          <a:solidFill>
            <a:srgbClr val="E8F5EE"/>
          </a:solidFill>
          <a:ln cap="flat" cmpd="sng" w="15225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741098" y="804672"/>
            <a:ext cx="54900" cy="11886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869114" y="886968"/>
            <a:ext cx="405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📋  Rastreabilidade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869114" y="1225296"/>
            <a:ext cx="40599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Cada KPI tem fórmula, view-fonte e benchmark documentados. Auditoria end-to-end possível.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97114" y="2139696"/>
            <a:ext cx="4279500" cy="1188600"/>
          </a:xfrm>
          <a:prstGeom prst="rect">
            <a:avLst/>
          </a:prstGeom>
          <a:solidFill>
            <a:srgbClr val="FEF3E8"/>
          </a:solidFill>
          <a:ln cap="flat" cmpd="sng" w="15225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297114" y="2139696"/>
            <a:ext cx="54900" cy="11886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25130" y="2221992"/>
            <a:ext cx="405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🎯  Aderência ao Case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25130" y="2560320"/>
            <a:ext cx="40599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As regras de risco (ATENÇÃO, ALTO RISCO) devem ser idênticas no SQL, dashboard e respostas.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741098" y="2139696"/>
            <a:ext cx="4279500" cy="1188600"/>
          </a:xfrm>
          <a:prstGeom prst="rect">
            <a:avLst/>
          </a:prstGeom>
          <a:solidFill>
            <a:srgbClr val="EBF4FF"/>
          </a:solidFill>
          <a:ln cap="flat" cmpd="sng" w="15225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4741098" y="2139696"/>
            <a:ext cx="54900" cy="11886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869114" y="2221992"/>
            <a:ext cx="405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📈  Escalabilidade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869114" y="2560320"/>
            <a:ext cx="40599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Arquitetura S3→Glue→Athena suporta crescimento sem redesenho. Views particionadas por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297114" y="3474720"/>
            <a:ext cx="4279500" cy="1188600"/>
          </a:xfrm>
          <a:prstGeom prst="rect">
            <a:avLst/>
          </a:prstGeom>
          <a:solidFill>
            <a:srgbClr val="E8F5EE"/>
          </a:solidFill>
          <a:ln cap="flat" cmpd="sng" w="15225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297114" y="3474720"/>
            <a:ext cx="54900" cy="11886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425130" y="3557016"/>
            <a:ext cx="405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📊  Leitura Executiva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25130" y="3895344"/>
            <a:ext cx="40599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 focado em decisão, não em dados brutos. Cada visual responde: o que, por quê, impacto.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41098" y="3474720"/>
            <a:ext cx="4279500" cy="1188600"/>
          </a:xfrm>
          <a:prstGeom prst="rect">
            <a:avLst/>
          </a:prstGeom>
          <a:solidFill>
            <a:srgbClr val="FEF3E8"/>
          </a:solidFill>
          <a:ln cap="flat" cmpd="sng" w="15225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741098" y="3474720"/>
            <a:ext cx="54900" cy="11886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869114" y="3557016"/>
            <a:ext cx="4059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🛡️  Governança de Risco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4869114" y="3895344"/>
            <a:ext cx="40599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Regras de concentração, PD e PCLD alinham-se à Resolução CMN 2.682/1999 e benchmarks internos.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FRENTES DE TRABALHO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Frentes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5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88898" y="821105"/>
            <a:ext cx="4279500" cy="1188600"/>
          </a:xfrm>
          <a:prstGeom prst="rect">
            <a:avLst/>
          </a:prstGeom>
          <a:solidFill>
            <a:srgbClr val="EBF4FF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288898" y="821105"/>
            <a:ext cx="457200" cy="11886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288898" y="821105"/>
            <a:ext cx="457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37538" y="875969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🗄️  Dados e Qualidade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37538" y="1150289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Validar integridade pós-carga (PKs, FKs, NULLs)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37538" y="1351457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Automatizar pipeline S3→Glue→Athena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37538" y="1552625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Implementar testes de qualidade com dbt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837538" y="1753793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Particionar tabelas de ratings e exposições por data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732882" y="821105"/>
            <a:ext cx="4279500" cy="1188600"/>
          </a:xfrm>
          <a:prstGeom prst="rect">
            <a:avLst/>
          </a:prstGeom>
          <a:solidFill>
            <a:srgbClr val="E8F5EE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4732882" y="821105"/>
            <a:ext cx="457200" cy="11886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4732882" y="821105"/>
            <a:ext cx="457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281522" y="875969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🔍  Camada Analítica / 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281522" y="1150289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Publicar 16 views como Named Queries no Athena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5281522" y="1351457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Versionar views em repositório Git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5281522" y="1552625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Testar views contra base real com resultado documentado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281522" y="1753793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Criar 3 views extras: mix de garantias, migração, pricing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288898" y="2137841"/>
            <a:ext cx="4279500" cy="118860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288898" y="2137841"/>
            <a:ext cx="457200" cy="11886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288898" y="2137841"/>
            <a:ext cx="457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837538" y="2192705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⚠️  Regras de Risco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37538" y="2467025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Unificar critérios: ATENÇÃO (util&gt;75% OU desc&gt;25%)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37538" y="2668193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Padronizar ALTO RISCO (util&gt;80% + desc&gt;30%)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37538" y="2869361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Implementar alertas via EventBridge + Lambda + SNS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837538" y="3070529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Documentar thresholds com base nos benchmarks do case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732882" y="2137841"/>
            <a:ext cx="4279500" cy="1188600"/>
          </a:xfrm>
          <a:prstGeom prst="rect">
            <a:avLst/>
          </a:prstGeom>
          <a:solidFill>
            <a:srgbClr val="FEF3E8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4732882" y="2137841"/>
            <a:ext cx="457200" cy="11886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4732882" y="2137841"/>
            <a:ext cx="457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281522" y="2192705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📊  Dashboard / Visualização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5281522" y="2467025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Migrar mockup HTML para Amazon QuickSight nativo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281522" y="2668193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Conectar datasets Athena aos visuais do QuickSight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281522" y="2869361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Manter 5 abas: Visão Geral, Risco, Limites, Adicionais, Glossário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281522" y="3070529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Publicar com atualização automática mensal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88898" y="3454577"/>
            <a:ext cx="4279500" cy="11886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288898" y="3454577"/>
            <a:ext cx="457200" cy="11886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288898" y="3454577"/>
            <a:ext cx="457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837538" y="3509441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🔔  Monitoramento e Alertas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837538" y="3783761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Configurar 5 alertas automáticos no QuickSight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37538" y="3984929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Pipeline diário para exposições e semanal para vencidas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837538" y="4186097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Dashboard de crise ativável em &lt; 30 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837538" y="4387265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Relatório mensal automatizado via SES + PDF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732882" y="3454577"/>
            <a:ext cx="4279500" cy="11886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2A4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4732882" y="3454577"/>
            <a:ext cx="457200" cy="1188600"/>
          </a:xfrm>
          <a:prstGeom prst="rect">
            <a:avLst/>
          </a:prstGeom>
          <a:solidFill>
            <a:srgbClr val="2A4A6B"/>
          </a:solidFill>
          <a:ln cap="flat" cmpd="sng" w="12700">
            <a:solidFill>
              <a:srgbClr val="2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4732882" y="3454577"/>
            <a:ext cx="457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5281522" y="3509441"/>
            <a:ext cx="3639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📋  Governança / Documentação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281522" y="3783761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Dicionário de dados com glossário dos KPIs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5281522" y="3984929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Mapa de rastreabilidade: KPI → fórmula → view → fonte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5281522" y="4186097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SLA de revisão semestral de limites e ratings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5281522" y="4387265"/>
            <a:ext cx="363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Ata de Comitê de Crédito com outputs do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DE IMPLEMENTAÇÃO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Fases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6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6"/>
          <p:cNvCxnSpPr/>
          <p:nvPr/>
        </p:nvCxnSpPr>
        <p:spPr>
          <a:xfrm>
            <a:off x="478935" y="1162216"/>
            <a:ext cx="8412600" cy="0"/>
          </a:xfrm>
          <a:prstGeom prst="straightConnector1">
            <a:avLst/>
          </a:prstGeom>
          <a:noFill/>
          <a:ln cap="flat" cmpd="sng" w="254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6"/>
          <p:cNvSpPr/>
          <p:nvPr/>
        </p:nvSpPr>
        <p:spPr>
          <a:xfrm>
            <a:off x="350919" y="1034200"/>
            <a:ext cx="255900" cy="255900"/>
          </a:xfrm>
          <a:prstGeom prst="ellipse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2472327" y="1034200"/>
            <a:ext cx="255900" cy="255900"/>
          </a:xfrm>
          <a:prstGeom prst="ellipse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612023" y="1034200"/>
            <a:ext cx="255900" cy="255900"/>
          </a:xfrm>
          <a:prstGeom prst="ellipse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751719" y="1034200"/>
            <a:ext cx="255900" cy="255900"/>
          </a:xfrm>
          <a:prstGeom prst="ellipse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387495" y="1436536"/>
            <a:ext cx="2030100" cy="30906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387495" y="1436536"/>
            <a:ext cx="2030100" cy="347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387495" y="1436536"/>
            <a:ext cx="203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60647" y="1820584"/>
            <a:ext cx="188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Ajustes Críticos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60647" y="2094904"/>
            <a:ext cx="188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0 – 30 dias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78935" y="2332648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Hard limit Tecnologia + provisionamento CLI956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78935" y="2808136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Corrigir critérios ATENÇÃO/ALTO RISCO no SQL e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78935" y="3283624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Publicar views SQL validadas como Named Queries no Athena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8935" y="3759112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Parametrizar thresholds — eliminar hardcodes do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2563767" y="1436536"/>
            <a:ext cx="2030100" cy="30906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2563767" y="1436536"/>
            <a:ext cx="2030100" cy="3474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2563767" y="1436536"/>
            <a:ext cx="203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2636919" y="1820584"/>
            <a:ext cx="188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Consolidação Analítica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2636919" y="2094904"/>
            <a:ext cx="188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30 – 90 dias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2655207" y="2332648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Pipeline S3→Glue→Athena automatizado com dbt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2655207" y="2808136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Testes de qualidade automáticos em todas as views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2655207" y="3283624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Recalcular análises adicionais sobre base real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2655207" y="3759112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Alinhar documentação: fórmulas, benchmarks e SLAs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4740039" y="1436536"/>
            <a:ext cx="2030100" cy="30906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4740039" y="1436536"/>
            <a:ext cx="2030100" cy="3474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4740039" y="1436536"/>
            <a:ext cx="203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4813191" y="1820584"/>
            <a:ext cx="188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Evolução e Monitoramento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813191" y="2094904"/>
            <a:ext cx="188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7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90 dias – 6 meses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4831479" y="2332648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Migrar dashboard HTML para Amazon QuickSight nativo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831479" y="2808136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Configurar 5 alertas automáticos (EventBridge + SNS)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4831479" y="3283624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Relatório PDF automático no 1º dia útil do mês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831479" y="3759112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Dashboard de crise — ativável em &lt; 30 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916311" y="1436536"/>
            <a:ext cx="2030100" cy="30906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6916311" y="1436536"/>
            <a:ext cx="2030100" cy="3474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916311" y="1436536"/>
            <a:ext cx="2030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989463" y="1820584"/>
            <a:ext cx="188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Operação e Governança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989463" y="2094904"/>
            <a:ext cx="188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4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A7F4B"/>
                </a:solidFill>
                <a:latin typeface="Arial"/>
                <a:ea typeface="Arial"/>
                <a:cs typeface="Arial"/>
                <a:sym typeface="Arial"/>
              </a:rPr>
              <a:t>6 – 12 meses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007751" y="2332648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Revisão semestral de limites e ratings no Comitê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7007751" y="2808136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Dicionário de dados e mapa de rastreabilidade publicados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007751" y="3283624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Stress test trimestral com simulação de cenários adversos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7007751" y="3759112"/>
            <a:ext cx="1828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· Expansão para outros segmentos ou carteiras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QUICK WINS — ALTO IMPACTO · BAIXA COMPLEXIDADE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dias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7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329980" y="766241"/>
            <a:ext cx="8631900" cy="3474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439708" y="784529"/>
            <a:ext cx="8376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E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4DEE8"/>
                </a:solidFill>
                <a:latin typeface="Arial"/>
                <a:ea typeface="Arial"/>
                <a:cs typeface="Arial"/>
                <a:sym typeface="Arial"/>
              </a:rPr>
              <a:t>Ações que podem ser executadas imediatamente, sem dependência de infraestrutura nova, gerando impacto visível em até 30 dias.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329980" y="1186865"/>
            <a:ext cx="8631900" cy="621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329980" y="1186865"/>
            <a:ext cx="420600" cy="6219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329980" y="1186865"/>
            <a:ext cx="420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QW1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823756" y="1241729"/>
            <a:ext cx="1005900" cy="2196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823756" y="1241729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CRÍTICO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7937788" y="1241729"/>
            <a:ext cx="914400" cy="2196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7937788" y="1241729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Dia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1921036" y="1232585"/>
            <a:ext cx="590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Hard limit Tecnologia + provisionamento CLI956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921036" y="1516049"/>
            <a:ext cx="5907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Bloquear novas concessões em Tecnologia (18,1% &gt; 15%). Provisionar CLI956 integralmente. Custo: zero. Impacto: redução imediata de risco regulatório.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329980" y="1900097"/>
            <a:ext cx="8631900" cy="621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7"/>
          <p:cNvSpPr/>
          <p:nvPr/>
        </p:nvSpPr>
        <p:spPr>
          <a:xfrm>
            <a:off x="329980" y="1900097"/>
            <a:ext cx="420600" cy="6219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329980" y="1900097"/>
            <a:ext cx="420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QW2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823756" y="1954961"/>
            <a:ext cx="1005900" cy="219600"/>
          </a:xfrm>
          <a:prstGeom prst="roundRect">
            <a:avLst>
              <a:gd fmla="val 16667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823756" y="1954961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7937788" y="1954961"/>
            <a:ext cx="914400" cy="2196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7937788" y="1954961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Semana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1921036" y="1945817"/>
            <a:ext cx="590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Padronizar regras ATENÇÃO e ALTO RISCO em todas as camadas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1921036" y="2229281"/>
            <a:ext cx="5907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Hoje os critérios divergem entre SQL, dashboard e respostas. Unificar: ATENÇÃO = util&gt;75% OU desc&gt;25% · ALTO RISCO = util&gt;80% + desc&gt;30%.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329980" y="2613329"/>
            <a:ext cx="8631900" cy="621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329980" y="2613329"/>
            <a:ext cx="420600" cy="6219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329980" y="2613329"/>
            <a:ext cx="420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QW3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823756" y="2668193"/>
            <a:ext cx="1005900" cy="219600"/>
          </a:xfrm>
          <a:prstGeom prst="roundRect">
            <a:avLst>
              <a:gd fmla="val 16667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823756" y="2668193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7937788" y="2668193"/>
            <a:ext cx="914400" cy="2196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7937788" y="2668193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Semana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1921036" y="2659049"/>
            <a:ext cx="590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Publicar 16 views SQL no Athena como Named Queries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1921036" y="2942513"/>
            <a:ext cx="5907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Views já desenvolvidas e testadas. Publicação é configuração, não desenvolvimento. Libera QuickSight para conectar diretamente.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329980" y="3326561"/>
            <a:ext cx="8631900" cy="621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/>
          <p:nvPr/>
        </p:nvSpPr>
        <p:spPr>
          <a:xfrm>
            <a:off x="329980" y="3326561"/>
            <a:ext cx="420600" cy="6219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"/>
          <p:cNvSpPr/>
          <p:nvPr/>
        </p:nvSpPr>
        <p:spPr>
          <a:xfrm>
            <a:off x="329980" y="3326561"/>
            <a:ext cx="420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QW4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823756" y="3381425"/>
            <a:ext cx="1005900" cy="219600"/>
          </a:xfrm>
          <a:prstGeom prst="roundRect">
            <a:avLst>
              <a:gd fmla="val 16667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823756" y="3381425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7937788" y="3381425"/>
            <a:ext cx="914400" cy="2196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7"/>
          <p:cNvSpPr/>
          <p:nvPr/>
        </p:nvSpPr>
        <p:spPr>
          <a:xfrm>
            <a:off x="7937788" y="3381425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Semana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1921036" y="3372281"/>
            <a:ext cx="590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Parametrizar thresholds no dashboard — eliminar hardcodes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1921036" y="3655745"/>
            <a:ext cx="5907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Mover todos os limites fixos (15%, 75%, 85%, 1%) para variáveis configuráveis. Facilita ajuste sem reescrita de código.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329980" y="4039793"/>
            <a:ext cx="8631900" cy="621900"/>
          </a:xfrm>
          <a:prstGeom prst="rect">
            <a:avLst/>
          </a:prstGeom>
          <a:solidFill>
            <a:srgbClr val="F5F6F8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7"/>
          <p:cNvSpPr/>
          <p:nvPr/>
        </p:nvSpPr>
        <p:spPr>
          <a:xfrm>
            <a:off x="329980" y="4039793"/>
            <a:ext cx="420600" cy="6219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329980" y="4039793"/>
            <a:ext cx="420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QW5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823756" y="4094657"/>
            <a:ext cx="1005900" cy="219600"/>
          </a:xfrm>
          <a:prstGeom prst="roundRect">
            <a:avLst>
              <a:gd fmla="val 16667" name="adj"/>
            </a:avLst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823756" y="4094657"/>
            <a:ext cx="1005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7937788" y="4094657"/>
            <a:ext cx="914400" cy="2196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7937788" y="4094657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Semana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1921036" y="4085513"/>
            <a:ext cx="590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Documentar fórmulas e benchmarks no glossário do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1921036" y="4368977"/>
            <a:ext cx="5907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Aba Glossário já existe. Completar com fórmula, view SQL, meta e frequência de atualização para todos os 8 KPIs principais.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AJUSTES ESTRUTURANTES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2–3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8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11349" y="792745"/>
            <a:ext cx="8485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Iniciativas de maior profundidade — impacto na qualidade, auditabilidade e escalabilidade da solução.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338197" y="1121929"/>
            <a:ext cx="8631900" cy="786300"/>
          </a:xfrm>
          <a:prstGeom prst="rect">
            <a:avLst/>
          </a:prstGeom>
          <a:solidFill>
            <a:srgbClr val="F5F6F8"/>
          </a:solidFill>
          <a:ln cap="flat" cmpd="sng" w="15225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338197" y="1121929"/>
            <a:ext cx="54900" cy="7863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7946005" y="1176793"/>
            <a:ext cx="914400" cy="219600"/>
          </a:xfrm>
          <a:prstGeom prst="roundRect">
            <a:avLst>
              <a:gd fmla="val 16667" name="adj"/>
            </a:avLst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7946005" y="1176793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466213" y="1185937"/>
            <a:ext cx="737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🗃️  Pipeline de Dados Automatizado (S3 → Glue → Athena)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466213" y="1469401"/>
            <a:ext cx="658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Substituir carga manual do Excel por job AWS Glue diário. Exposições: atualização diária. Ratings e limites: mensal ou por evento. Formato Parquet particionado por data_referencia.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7177909" y="1469401"/>
            <a:ext cx="1719000" cy="2742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7196200" y="1478550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↑ Elimina inconsistência de dados entre ciclos. Base única e auditável.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338197" y="2018041"/>
            <a:ext cx="8631900" cy="786300"/>
          </a:xfrm>
          <a:prstGeom prst="rect">
            <a:avLst/>
          </a:prstGeom>
          <a:solidFill>
            <a:srgbClr val="F5F6F8"/>
          </a:solidFill>
          <a:ln cap="flat" cmpd="sng" w="15225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338197" y="2018041"/>
            <a:ext cx="54900" cy="7863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7946005" y="2072905"/>
            <a:ext cx="914400" cy="219600"/>
          </a:xfrm>
          <a:prstGeom prst="roundRect">
            <a:avLst>
              <a:gd fmla="val 16667" name="adj"/>
            </a:avLst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7946005" y="2072905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466213" y="2082049"/>
            <a:ext cx="737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🔍  Views SQL com Versionamento e Testes Automáticos (dbt)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466213" y="2365513"/>
            <a:ext cx="658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Migrar views para dbt com testes de qualidade em cada build: NOT NULL, referential integrity, range checks (pd_12m ∈ [0,1], valor_utilizado ≤ valor_aprovado).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7123000" y="2365525"/>
            <a:ext cx="1773900" cy="2742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7123150" y="2374650"/>
            <a:ext cx="1847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↑ Zero chance de view quebrada em produção. Rastreabilidade end-to-end.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338197" y="2914153"/>
            <a:ext cx="8631900" cy="786300"/>
          </a:xfrm>
          <a:prstGeom prst="rect">
            <a:avLst/>
          </a:prstGeom>
          <a:solidFill>
            <a:srgbClr val="F5F6F8"/>
          </a:solidFill>
          <a:ln cap="flat" cmpd="sng" w="15225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8"/>
          <p:cNvSpPr/>
          <p:nvPr/>
        </p:nvSpPr>
        <p:spPr>
          <a:xfrm>
            <a:off x="338197" y="2914153"/>
            <a:ext cx="54900" cy="7863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7946005" y="2969017"/>
            <a:ext cx="914400" cy="219600"/>
          </a:xfrm>
          <a:prstGeom prst="roundRect">
            <a:avLst>
              <a:gd fmla="val 16667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7946005" y="2969017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66213" y="2978161"/>
            <a:ext cx="737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📊  Migração do Mockup HTML para Amazon QuickSight Nativo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466213" y="3261625"/>
            <a:ext cx="658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Conectar datasets Athena diretamente ao QuickSight. Replicar as 5 abas, filtros globais e KPIs. Usar SPICE para performance. Configurar refresh automático.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7123150" y="3261625"/>
            <a:ext cx="1773900" cy="2742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7104800" y="3270775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↑ Dashboard auditável, versionado e distribuível para stakeholders via link.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338197" y="3810265"/>
            <a:ext cx="8631900" cy="786300"/>
          </a:xfrm>
          <a:prstGeom prst="rect">
            <a:avLst/>
          </a:prstGeom>
          <a:solidFill>
            <a:srgbClr val="F5F6F8"/>
          </a:solidFill>
          <a:ln cap="flat" cmpd="sng" w="15225">
            <a:solidFill>
              <a:srgbClr val="2A4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338197" y="3810265"/>
            <a:ext cx="54900" cy="786300"/>
          </a:xfrm>
          <a:prstGeom prst="rect">
            <a:avLst/>
          </a:prstGeom>
          <a:solidFill>
            <a:srgbClr val="2A4A6B"/>
          </a:solidFill>
          <a:ln cap="flat" cmpd="sng" w="12700">
            <a:solidFill>
              <a:srgbClr val="2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7946005" y="3865129"/>
            <a:ext cx="914400" cy="219600"/>
          </a:xfrm>
          <a:prstGeom prst="roundRect">
            <a:avLst>
              <a:gd fmla="val 16667" name="adj"/>
            </a:avLst>
          </a:prstGeom>
          <a:solidFill>
            <a:srgbClr val="2A4A6B"/>
          </a:solidFill>
          <a:ln cap="flat" cmpd="sng" w="12700">
            <a:solidFill>
              <a:srgbClr val="2A4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7946005" y="3865129"/>
            <a:ext cx="914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Fase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66213" y="3874273"/>
            <a:ext cx="737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📋  Dicionário de Dados e Mapa de Rastreabilidade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66213" y="4157737"/>
            <a:ext cx="658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Documentar cada KPI com: fórmula, view SQL de origem, benchmark, frequência de atualização, responsável e data de última revisão. Publicar no Glossário do QuickSight.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7177909" y="4157737"/>
            <a:ext cx="1719000" cy="2742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7196197" y="4166881"/>
            <a:ext cx="168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↑ Toda leitura do Comitê de Crédito tem rastreabilidade documentada.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IMPLEMENTAÇÃO DAS ANÁLISES ADICIONAIS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 Extra → Produção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9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346413" y="807323"/>
            <a:ext cx="8631900" cy="3291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456141" y="825611"/>
            <a:ext cx="837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EE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4DEE8"/>
                </a:solidFill>
                <a:latin typeface="Arial"/>
                <a:ea typeface="Arial"/>
                <a:cs typeface="Arial"/>
                <a:sym typeface="Arial"/>
              </a:rPr>
              <a:t>As análises adicionais não são apêndice técnico — são o diferencial analítico da solução. A implementação as institucionaliza como fontes de decisão permanentes.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46413" y="1227947"/>
            <a:ext cx="8631900" cy="768000"/>
          </a:xfrm>
          <a:prstGeom prst="rect">
            <a:avLst/>
          </a:prstGeom>
          <a:solidFill>
            <a:srgbClr val="EBF4FF"/>
          </a:solidFill>
          <a:ln cap="flat" cmpd="sng" w="15225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346413" y="1227947"/>
            <a:ext cx="54900" cy="7680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474429" y="1282811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💰  Pricing por Rating (RAROC)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5942541" y="1282811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5942541" y="1282811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vw_pricing_por_rating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7716477" y="1282811"/>
            <a:ext cx="1188600" cy="219600"/>
          </a:xfrm>
          <a:prstGeom prst="roundRect">
            <a:avLst>
              <a:gd fmla="val 16667" name="adj"/>
            </a:avLst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7716477" y="1282811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 Produção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4429" y="1575419"/>
            <a:ext cx="835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Implementação: Tabela de taxa média por faixa de rating com atualização mensal. Alerta automático se correlação Pearson &lt; 0,20.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74429" y="1776587"/>
            <a:ext cx="835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Valor: Identifica subsídio implícito — base para revisão da política de pricing.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346413" y="2105771"/>
            <a:ext cx="8631900" cy="768000"/>
          </a:xfrm>
          <a:prstGeom prst="rect">
            <a:avLst/>
          </a:prstGeom>
          <a:solidFill>
            <a:srgbClr val="E8F5EE"/>
          </a:solidFill>
          <a:ln cap="flat" cmpd="sng" w="15225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346413" y="2105771"/>
            <a:ext cx="54900" cy="7680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474429" y="2160635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🛡️  Mix de Garantias e LGD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5942541" y="2160635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5942541" y="2160635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vw_mix_garantias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7716477" y="2160635"/>
            <a:ext cx="1188600" cy="219600"/>
          </a:xfrm>
          <a:prstGeom prst="roundRect">
            <a:avLst>
              <a:gd fmla="val 16667" name="adj"/>
            </a:avLst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7716477" y="2160635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 Produção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74429" y="2453243"/>
            <a:ext cx="835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Implementação: Chart stacked por segmento (Forte / Moderada / Sem Cobertura). Atualização mensal com cálculo de LGD potencial por cenário de haircut.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474429" y="2654411"/>
            <a:ext cx="835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Valor: Dimensiona a perda real em caso de default — insumo direto para stress test.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346413" y="2983595"/>
            <a:ext cx="8631900" cy="768000"/>
          </a:xfrm>
          <a:prstGeom prst="rect">
            <a:avLst/>
          </a:prstGeom>
          <a:solidFill>
            <a:srgbClr val="FEF3C7"/>
          </a:solidFill>
          <a:ln cap="flat" cmpd="sng" w="152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346413" y="2983595"/>
            <a:ext cx="54900" cy="7680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474429" y="3038459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📈  Migração de Rating (12 meses)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5942541" y="3038459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5942541" y="3038459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vw_migracao_rating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7716477" y="3038459"/>
            <a:ext cx="1188600" cy="219600"/>
          </a:xfrm>
          <a:prstGeom prst="roundRect">
            <a:avLst>
              <a:gd fmla="val 16667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7716477" y="3038459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 Produção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74429" y="3331067"/>
            <a:ext cx="835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Implementação: Tabela de direção (melhora/piora/estável) e intensidade (níveis alterados). Gatilho de alerta para clientes com piora consecutiva em 3 meses.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474429" y="3532235"/>
            <a:ext cx="835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Valor: Detecta deterioração antes do default — antecipa provisão e revisão de limite.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346413" y="3861419"/>
            <a:ext cx="8631900" cy="768000"/>
          </a:xfrm>
          <a:prstGeom prst="rect">
            <a:avLst/>
          </a:prstGeom>
          <a:solidFill>
            <a:srgbClr val="FEF3E8"/>
          </a:solidFill>
          <a:ln cap="flat" cmpd="sng" w="15225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9"/>
          <p:cNvSpPr/>
          <p:nvPr/>
        </p:nvSpPr>
        <p:spPr>
          <a:xfrm>
            <a:off x="346413" y="3861419"/>
            <a:ext cx="54900" cy="7680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474429" y="3916283"/>
            <a:ext cx="530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📊  Score por Segmento e Porte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5942541" y="3916283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5942541" y="3916283"/>
            <a:ext cx="1645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vw_score_por_segmento_porte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7716477" y="3916283"/>
            <a:ext cx="1188600" cy="219600"/>
          </a:xfrm>
          <a:prstGeom prst="roundRect">
            <a:avLst>
              <a:gd fmla="val 16667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7716477" y="3916283"/>
            <a:ext cx="1188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 Produção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74429" y="4208891"/>
            <a:ext cx="835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Implementação: Visual de barras com benchmark por segmento/porte. Alimenta política diferenciada de concessão: Wholesale Grande ≠ Corporate Médio.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474429" y="4410059"/>
            <a:ext cx="8357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Valor: Evita critérios uniformes que ignoram heterogeneidade real do portfólio.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PLANO DE MONITORAMENTO DE CRISE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Parte 5 · Stress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0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10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354629" y="749808"/>
            <a:ext cx="8631900" cy="420600"/>
          </a:xfrm>
          <a:prstGeom prst="rect">
            <a:avLst/>
          </a:prstGeom>
          <a:solidFill>
            <a:srgbClr val="FDECEA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464357" y="768096"/>
            <a:ext cx="837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⚠️  Gatilho de crise: queda de rating em 2+ clientes do mesmo setor OU vencimentos acima de R$50M em 30 dias. Acionamento automático via EventBridge → Lambda → Slack/Teams.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427781" y="1298448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45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C3450"/>
                </a:solidFill>
                <a:latin typeface="Arial"/>
                <a:ea typeface="Arial"/>
                <a:cs typeface="Arial"/>
                <a:sym typeface="Arial"/>
              </a:rPr>
              <a:t>3 Visualizações Críticas Ativadas em Modo de Crise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354629" y="1627632"/>
            <a:ext cx="8631900" cy="786300"/>
          </a:xfrm>
          <a:prstGeom prst="rect">
            <a:avLst/>
          </a:prstGeom>
          <a:solidFill>
            <a:srgbClr val="F5F6F8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354629" y="1627632"/>
            <a:ext cx="347400" cy="7863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354629" y="1627632"/>
            <a:ext cx="347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793541" y="1691640"/>
            <a:ext cx="810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Tabela de Clientes em Monitoramento Intensivo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793541" y="1975104"/>
            <a:ext cx="621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Colunas: Rating atual · PD · Exposição bruta · Descoberta · Utilização · Dias vencido · Vencimentos 90d · Cenário de perda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7139477" y="1975104"/>
            <a:ext cx="1737300" cy="237600"/>
          </a:xfrm>
          <a:prstGeom prst="roundRect">
            <a:avLst>
              <a:gd fmla="val 15385" name="adj"/>
            </a:avLst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7139477" y="1975104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650"/>
              <a:buFont typeface="Arial"/>
              <a:buNone/>
            </a:pPr>
            <a:r>
              <a:rPr b="0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vw_clientes_em_atencao + vw_exposicao_enriquecida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354629" y="2523744"/>
            <a:ext cx="8631900" cy="786300"/>
          </a:xfrm>
          <a:prstGeom prst="rect">
            <a:avLst/>
          </a:prstGeom>
          <a:solidFill>
            <a:srgbClr val="F5F6F8"/>
          </a:solidFill>
          <a:ln cap="flat" cmpd="sng" w="152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354629" y="2523744"/>
            <a:ext cx="347400" cy="7863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354629" y="2523744"/>
            <a:ext cx="347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793541" y="2587752"/>
            <a:ext cx="810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Evolução Recente de Rating (últimos 6 meses)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793541" y="2871216"/>
            <a:ext cx="621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Linha por cliente com marcador de deterioração consecutiva (≥2 meses). Destaque automático para clientes do setor afetado.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7139477" y="2871216"/>
            <a:ext cx="1737300" cy="237600"/>
          </a:xfrm>
          <a:prstGeom prst="roundRect">
            <a:avLst>
              <a:gd fmla="val 15385" name="adj"/>
            </a:avLst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7139477" y="2871216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650"/>
              <a:buFont typeface="Arial"/>
              <a:buNone/>
            </a:pPr>
            <a:r>
              <a:rPr b="0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vw_score_por_segmento_mes · atualização diária em crise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354629" y="3419856"/>
            <a:ext cx="8631900" cy="786300"/>
          </a:xfrm>
          <a:prstGeom prst="rect">
            <a:avLst/>
          </a:prstGeom>
          <a:solidFill>
            <a:srgbClr val="F5F6F8"/>
          </a:solidFill>
          <a:ln cap="flat" cmpd="sng" w="15225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0"/>
          <p:cNvSpPr/>
          <p:nvPr/>
        </p:nvSpPr>
        <p:spPr>
          <a:xfrm>
            <a:off x="354629" y="3419856"/>
            <a:ext cx="347400" cy="7863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0"/>
          <p:cNvSpPr/>
          <p:nvPr/>
        </p:nvSpPr>
        <p:spPr>
          <a:xfrm>
            <a:off x="354629" y="3419856"/>
            <a:ext cx="347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793541" y="3483864"/>
            <a:ext cx="810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Impacto em PCLD por Cenário de Haircut de Garantias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793541" y="3767328"/>
            <a:ext cx="621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Cálculo dinâmico com 3 cenários: Haircut 30% / 50% / 70%. Comparativo base × moderado × severo. Reflexo no resultado do período.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7139477" y="3767328"/>
            <a:ext cx="1737300" cy="237600"/>
          </a:xfrm>
          <a:prstGeom prst="roundRect">
            <a:avLst>
              <a:gd fmla="val 15385" name="adj"/>
            </a:avLst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0"/>
          <p:cNvSpPr/>
          <p:nvPr/>
        </p:nvSpPr>
        <p:spPr>
          <a:xfrm>
            <a:off x="7139477" y="3767328"/>
            <a:ext cx="1737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650"/>
              <a:buFont typeface="Arial"/>
              <a:buNone/>
            </a:pPr>
            <a:r>
              <a:rPr b="0" i="0" lang="en-US" sz="75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vw_exposicao_enriquecida · vw_mix_garantias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164600" y="4333452"/>
            <a:ext cx="8979300" cy="3657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365760" y="4351748"/>
            <a:ext cx="8376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SLA de resposta: visualizações disponíveis em &lt; 30 min do gatilho  ·  Frequência: atualização a cada 4h durante a crise  ·  Responsável: analista dedicado + gerente de risco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RISCOS DE IMPLEMENTAÇÃO E MITIGAÇÕES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 de Riscos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11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222107" y="909631"/>
            <a:ext cx="8778300" cy="3291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222107" y="927919"/>
            <a:ext cx="208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2343515" y="927919"/>
            <a:ext cx="206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Causa Raiz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4446635" y="927919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Probabilidade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6293723" y="927919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8159099" y="927919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Mitigação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222107" y="1293679"/>
            <a:ext cx="8778300" cy="58530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222107" y="1357687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Divergência de KPIs entre camadas (SQL ≠ dashboard ≠ respostas)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2269567" y="1357687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Critérios hardcoded separadamente em cada artefato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4414828" y="1458271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4410065" y="1458272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6163319" y="1458271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1"/>
          <p:cNvSpPr/>
          <p:nvPr/>
        </p:nvSpPr>
        <p:spPr>
          <a:xfrm>
            <a:off x="6138670" y="1458271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7731844" y="1357687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QW2: unificar critérios em variáveis centralizadas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22107" y="1952047"/>
            <a:ext cx="8778300" cy="58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222107" y="2016055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View SQL produz resultado diferente da base Excel validada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2269567" y="2016055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Joins ou filtros incorretos — deduplicação inconsistente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4406612" y="2116639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4410065" y="2116647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6163319" y="2116639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1"/>
          <p:cNvSpPr/>
          <p:nvPr/>
        </p:nvSpPr>
        <p:spPr>
          <a:xfrm>
            <a:off x="6138670" y="2116639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7731844" y="2016055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Testes automatizados com dbt: resultado esperado documentado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222107" y="2610415"/>
            <a:ext cx="8778300" cy="58530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222107" y="2674423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 não auditável pelo Comitê de Crédito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2269567" y="2674423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HTML estático sem versionamento nem rastreabilidade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4390179" y="2775007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1"/>
          <p:cNvSpPr/>
          <p:nvPr/>
        </p:nvSpPr>
        <p:spPr>
          <a:xfrm>
            <a:off x="4365530" y="2775007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6163319" y="2775007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6138670" y="2775007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7731844" y="2674423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Migrar para QuickSight: versionado, com controle de acesso e 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222107" y="3268783"/>
            <a:ext cx="8778300" cy="585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1"/>
          <p:cNvSpPr/>
          <p:nvPr/>
        </p:nvSpPr>
        <p:spPr>
          <a:xfrm>
            <a:off x="222107" y="3332791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Regra de alerta com threshold incorreto — falso positivo/negativo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2269567" y="3332791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Threshold fixo no código sem revisão periódica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4398395" y="3433375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4365530" y="3433375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MÉDIA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6163319" y="3433375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6138670" y="3433375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7731844" y="3332791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Parametrizar thresholds + revisão semestral documentada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222107" y="3927151"/>
            <a:ext cx="8778300" cy="58530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222107" y="3991159"/>
            <a:ext cx="208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Pipeline de dados com atraso ou falha sem notificação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2269567" y="3991159"/>
            <a:ext cx="206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Jobs Glue sem monitoramento ativo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4414828" y="4091743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4365530" y="4091743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BAIXA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1"/>
          <p:cNvSpPr/>
          <p:nvPr/>
        </p:nvSpPr>
        <p:spPr>
          <a:xfrm>
            <a:off x="6163319" y="4091743"/>
            <a:ext cx="1463100" cy="237600"/>
          </a:xfrm>
          <a:prstGeom prst="roundRect">
            <a:avLst>
              <a:gd fmla="val 15385" name="adj"/>
            </a:avLst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1"/>
          <p:cNvSpPr/>
          <p:nvPr/>
        </p:nvSpPr>
        <p:spPr>
          <a:xfrm>
            <a:off x="6138670" y="4091743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7731844" y="3991159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CloudWatch Alarms + SNS para falha de job com SLA de reprocessamento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2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PAPÉIS E RESPONSABILIDADES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Squad de Implantação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228600" y="4814316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12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305331" y="796456"/>
            <a:ext cx="4279500" cy="1828800"/>
          </a:xfrm>
          <a:prstGeom prst="rect">
            <a:avLst/>
          </a:prstGeom>
          <a:solidFill>
            <a:srgbClr val="EBF4FF"/>
          </a:solidFill>
          <a:ln cap="flat" cmpd="sng" w="15225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305331" y="796456"/>
            <a:ext cx="54900" cy="18288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2"/>
          <p:cNvSpPr/>
          <p:nvPr/>
        </p:nvSpPr>
        <p:spPr>
          <a:xfrm>
            <a:off x="305331" y="796456"/>
            <a:ext cx="4279500" cy="347400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415059" y="796456"/>
            <a:ext cx="405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🗄️  Engenheiro de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433347" y="1198792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Pipeline S3 → Glue → Athena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433347" y="1527976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Particionamento e compressão Parquet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2"/>
          <p:cNvSpPr/>
          <p:nvPr/>
        </p:nvSpPr>
        <p:spPr>
          <a:xfrm>
            <a:off x="433347" y="1857160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Jobs de carga e reprocessamento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433347" y="2186344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CloudWatch + alertas de falha de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4749315" y="796456"/>
            <a:ext cx="4279500" cy="1828800"/>
          </a:xfrm>
          <a:prstGeom prst="rect">
            <a:avLst/>
          </a:prstGeom>
          <a:solidFill>
            <a:srgbClr val="FEF3E8"/>
          </a:solidFill>
          <a:ln cap="flat" cmpd="sng" w="15225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4749315" y="796456"/>
            <a:ext cx="54900" cy="18288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4749315" y="796456"/>
            <a:ext cx="4279500" cy="3474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4859043" y="796456"/>
            <a:ext cx="405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  Analista BI / Analytics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4877331" y="1198792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Views SQL com dbt — versionamento e testes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4877331" y="1527976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Migração do dashboard para QuickSight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4877331" y="1857160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Configuração de filtros e datasets SPICE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4877331" y="2186344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Manutenção e evolução dos 16+ visuais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305331" y="2844712"/>
            <a:ext cx="4279500" cy="1828800"/>
          </a:xfrm>
          <a:prstGeom prst="rect">
            <a:avLst/>
          </a:prstGeom>
          <a:solidFill>
            <a:srgbClr val="FDECEA"/>
          </a:solidFill>
          <a:ln cap="flat" cmpd="sng" w="152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305331" y="2844712"/>
            <a:ext cx="54900" cy="18288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305331" y="2844712"/>
            <a:ext cx="4279500" cy="3474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415059" y="2844712"/>
            <a:ext cx="405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⚠️  Especialista de Risco / Crédito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433347" y="3247048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Validação dos benchmarks e thresholds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2"/>
          <p:cNvSpPr/>
          <p:nvPr/>
        </p:nvSpPr>
        <p:spPr>
          <a:xfrm>
            <a:off x="433347" y="3576232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Definição e revisão das regras de ATENÇÃO / ALTO RISCO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2"/>
          <p:cNvSpPr/>
          <p:nvPr/>
        </p:nvSpPr>
        <p:spPr>
          <a:xfrm>
            <a:off x="433347" y="3905416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Stress test trimestral de PCLD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433347" y="4234600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Sign-off das métricas para o Comitê de Crédito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4749315" y="2844712"/>
            <a:ext cx="4279500" cy="1828800"/>
          </a:xfrm>
          <a:prstGeom prst="rect">
            <a:avLst/>
          </a:prstGeom>
          <a:solidFill>
            <a:srgbClr val="E8F5EE"/>
          </a:solidFill>
          <a:ln cap="flat" cmpd="sng" w="15225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4749315" y="2844712"/>
            <a:ext cx="54900" cy="18288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2"/>
          <p:cNvSpPr/>
          <p:nvPr/>
        </p:nvSpPr>
        <p:spPr>
          <a:xfrm>
            <a:off x="4749315" y="2844712"/>
            <a:ext cx="4279500" cy="347400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4859043" y="2844712"/>
            <a:ext cx="4059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 Gestor Demandante (Owner)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2"/>
          <p:cNvSpPr/>
          <p:nvPr/>
        </p:nvSpPr>
        <p:spPr>
          <a:xfrm>
            <a:off x="4877331" y="3247048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Priorização das frentes de trabalho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4877331" y="3576232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Aprovação de cronograma e marco de entrega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4877331" y="3905416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Comunicação com diretoria e Comitê de Crédito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2"/>
          <p:cNvSpPr/>
          <p:nvPr/>
        </p:nvSpPr>
        <p:spPr>
          <a:xfrm>
            <a:off x="4877331" y="4234600"/>
            <a:ext cx="405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· Validação final do dashboard e relatórios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329184" y="0"/>
            <a:ext cx="71323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CRONOGRAMA EXECUTIVO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7406640" y="128016"/>
            <a:ext cx="1572768" cy="347472"/>
          </a:xfrm>
          <a:prstGeom prst="roundRect">
            <a:avLst>
              <a:gd fmla="val 15789" name="adj"/>
            </a:avLst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7406640" y="128016"/>
            <a:ext cx="15727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12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228600" y="4855398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Plano de Implementação Crédito BBA  |  Portfólio Corporativo  |  Igor  |  Março 2026  |  </a:t>
            </a:r>
            <a:r>
              <a:rPr b="0" i="0" lang="en-US" sz="8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Slide 13 de 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2103120" y="804672"/>
            <a:ext cx="7680960" cy="310896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210312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3"/>
          <p:cNvSpPr/>
          <p:nvPr/>
        </p:nvSpPr>
        <p:spPr>
          <a:xfrm>
            <a:off x="274320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3"/>
          <p:cNvSpPr/>
          <p:nvPr/>
        </p:nvSpPr>
        <p:spPr>
          <a:xfrm>
            <a:off x="338328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/>
          <p:nvPr/>
        </p:nvSpPr>
        <p:spPr>
          <a:xfrm>
            <a:off x="402336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/>
          <p:nvPr/>
        </p:nvSpPr>
        <p:spPr>
          <a:xfrm>
            <a:off x="466344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/>
          <p:nvPr/>
        </p:nvSpPr>
        <p:spPr>
          <a:xfrm>
            <a:off x="530352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594360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3"/>
          <p:cNvSpPr/>
          <p:nvPr/>
        </p:nvSpPr>
        <p:spPr>
          <a:xfrm>
            <a:off x="658368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722376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786384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Dez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850392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Jan27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3"/>
          <p:cNvSpPr/>
          <p:nvPr/>
        </p:nvSpPr>
        <p:spPr>
          <a:xfrm>
            <a:off x="9144000" y="82296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Fev27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164592" y="804672"/>
            <a:ext cx="1920240" cy="310896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3"/>
          <p:cNvSpPr/>
          <p:nvPr/>
        </p:nvSpPr>
        <p:spPr>
          <a:xfrm>
            <a:off x="182880" y="822960"/>
            <a:ext cx="19019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Entregável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/>
          <p:nvPr/>
        </p:nvSpPr>
        <p:spPr>
          <a:xfrm>
            <a:off x="164592" y="1170432"/>
            <a:ext cx="9107424" cy="27432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182880" y="1216152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QW: Hard limit + CLI956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/>
          <p:nvPr/>
        </p:nvSpPr>
        <p:spPr>
          <a:xfrm>
            <a:off x="2103120" y="1216152"/>
            <a:ext cx="640080" cy="2011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3"/>
          <p:cNvSpPr/>
          <p:nvPr/>
        </p:nvSpPr>
        <p:spPr>
          <a:xfrm>
            <a:off x="2103120" y="12161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164592" y="1481328"/>
            <a:ext cx="91074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"/>
          <p:cNvSpPr/>
          <p:nvPr/>
        </p:nvSpPr>
        <p:spPr>
          <a:xfrm>
            <a:off x="182880" y="1527048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Padronizar regras ATENÇÃO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2103120" y="1527048"/>
            <a:ext cx="640080" cy="2011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2103120" y="152704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164592" y="1792224"/>
            <a:ext cx="9107424" cy="27432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3"/>
          <p:cNvSpPr/>
          <p:nvPr/>
        </p:nvSpPr>
        <p:spPr>
          <a:xfrm>
            <a:off x="182880" y="1837944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Publicar views no Athena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2103120" y="1837944"/>
            <a:ext cx="1280160" cy="20116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2103120" y="183794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164592" y="2103120"/>
            <a:ext cx="91074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182880" y="2148840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Pipeline S3→Glue + dbt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2743200" y="2148840"/>
            <a:ext cx="1920240" cy="20116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3"/>
          <p:cNvSpPr/>
          <p:nvPr/>
        </p:nvSpPr>
        <p:spPr>
          <a:xfrm>
            <a:off x="2743200" y="214884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164592" y="2414016"/>
            <a:ext cx="9107424" cy="27432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3"/>
          <p:cNvSpPr/>
          <p:nvPr/>
        </p:nvSpPr>
        <p:spPr>
          <a:xfrm>
            <a:off x="182880" y="2459736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Recalcular análises extras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3383280" y="2459736"/>
            <a:ext cx="1280160" cy="20116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3"/>
          <p:cNvSpPr/>
          <p:nvPr/>
        </p:nvSpPr>
        <p:spPr>
          <a:xfrm>
            <a:off x="3383280" y="245973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164592" y="2724912"/>
            <a:ext cx="91074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3"/>
          <p:cNvSpPr/>
          <p:nvPr/>
        </p:nvSpPr>
        <p:spPr>
          <a:xfrm>
            <a:off x="182880" y="2770632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Dicionário de dados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3383280" y="2770632"/>
            <a:ext cx="1920240" cy="201168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3"/>
          <p:cNvSpPr/>
          <p:nvPr/>
        </p:nvSpPr>
        <p:spPr>
          <a:xfrm>
            <a:off x="3383280" y="2770632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164592" y="3035808"/>
            <a:ext cx="9107424" cy="27432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3"/>
          <p:cNvSpPr/>
          <p:nvPr/>
        </p:nvSpPr>
        <p:spPr>
          <a:xfrm>
            <a:off x="182880" y="3081528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Migração para QuickSight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3"/>
          <p:cNvSpPr/>
          <p:nvPr/>
        </p:nvSpPr>
        <p:spPr>
          <a:xfrm>
            <a:off x="4023360" y="3081528"/>
            <a:ext cx="1920240" cy="201168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3"/>
          <p:cNvSpPr/>
          <p:nvPr/>
        </p:nvSpPr>
        <p:spPr>
          <a:xfrm>
            <a:off x="4023360" y="3081528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3"/>
          <p:cNvSpPr/>
          <p:nvPr/>
        </p:nvSpPr>
        <p:spPr>
          <a:xfrm>
            <a:off x="164592" y="3346704"/>
            <a:ext cx="91074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3"/>
          <p:cNvSpPr/>
          <p:nvPr/>
        </p:nvSpPr>
        <p:spPr>
          <a:xfrm>
            <a:off x="182880" y="3392424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5 alertas automáticos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3"/>
          <p:cNvSpPr/>
          <p:nvPr/>
        </p:nvSpPr>
        <p:spPr>
          <a:xfrm>
            <a:off x="4663440" y="3392424"/>
            <a:ext cx="1280160" cy="201168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3"/>
          <p:cNvSpPr/>
          <p:nvPr/>
        </p:nvSpPr>
        <p:spPr>
          <a:xfrm>
            <a:off x="4663440" y="3392424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164592" y="3657600"/>
            <a:ext cx="9107424" cy="27432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3"/>
          <p:cNvSpPr/>
          <p:nvPr/>
        </p:nvSpPr>
        <p:spPr>
          <a:xfrm>
            <a:off x="182880" y="3703320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Relatório PDF automático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3"/>
          <p:cNvSpPr/>
          <p:nvPr/>
        </p:nvSpPr>
        <p:spPr>
          <a:xfrm>
            <a:off x="5303520" y="3703320"/>
            <a:ext cx="1280160" cy="201168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3"/>
          <p:cNvSpPr/>
          <p:nvPr/>
        </p:nvSpPr>
        <p:spPr>
          <a:xfrm>
            <a:off x="5303520" y="370332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3"/>
          <p:cNvSpPr/>
          <p:nvPr/>
        </p:nvSpPr>
        <p:spPr>
          <a:xfrm>
            <a:off x="164592" y="3968496"/>
            <a:ext cx="91074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3"/>
          <p:cNvSpPr/>
          <p:nvPr/>
        </p:nvSpPr>
        <p:spPr>
          <a:xfrm>
            <a:off x="182880" y="4014216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Dashboard de crise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3"/>
          <p:cNvSpPr/>
          <p:nvPr/>
        </p:nvSpPr>
        <p:spPr>
          <a:xfrm>
            <a:off x="5303520" y="4014216"/>
            <a:ext cx="1280160" cy="201168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3"/>
          <p:cNvSpPr/>
          <p:nvPr/>
        </p:nvSpPr>
        <p:spPr>
          <a:xfrm>
            <a:off x="5303520" y="401421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F3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3"/>
          <p:cNvSpPr/>
          <p:nvPr/>
        </p:nvSpPr>
        <p:spPr>
          <a:xfrm>
            <a:off x="164592" y="4279392"/>
            <a:ext cx="9107424" cy="274320"/>
          </a:xfrm>
          <a:prstGeom prst="rect">
            <a:avLst/>
          </a:prstGeom>
          <a:solidFill>
            <a:srgbClr val="F5F6F8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3"/>
          <p:cNvSpPr/>
          <p:nvPr/>
        </p:nvSpPr>
        <p:spPr>
          <a:xfrm>
            <a:off x="182880" y="4325112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Stress test trimestral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3"/>
          <p:cNvSpPr/>
          <p:nvPr/>
        </p:nvSpPr>
        <p:spPr>
          <a:xfrm>
            <a:off x="5943600" y="4325112"/>
            <a:ext cx="3840480" cy="201168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3"/>
          <p:cNvSpPr/>
          <p:nvPr/>
        </p:nvSpPr>
        <p:spPr>
          <a:xfrm>
            <a:off x="5943600" y="43251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3"/>
          <p:cNvSpPr/>
          <p:nvPr/>
        </p:nvSpPr>
        <p:spPr>
          <a:xfrm>
            <a:off x="164592" y="4590288"/>
            <a:ext cx="9107424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3"/>
          <p:cNvSpPr/>
          <p:nvPr/>
        </p:nvSpPr>
        <p:spPr>
          <a:xfrm>
            <a:off x="182880" y="4636008"/>
            <a:ext cx="190195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1F2937"/>
                </a:solidFill>
              </a:rPr>
              <a:t>        </a:t>
            </a:r>
            <a:r>
              <a:rPr lang="en-US" sz="800">
                <a:solidFill>
                  <a:srgbClr val="1F2937"/>
                </a:solidFill>
              </a:rPr>
              <a:t>Governança</a:t>
            </a:r>
            <a:r>
              <a:rPr b="0" i="0" lang="en-US" sz="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 + Comitê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3"/>
          <p:cNvSpPr/>
          <p:nvPr/>
        </p:nvSpPr>
        <p:spPr>
          <a:xfrm>
            <a:off x="6583680" y="4636008"/>
            <a:ext cx="3200400" cy="201168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3"/>
          <p:cNvSpPr/>
          <p:nvPr/>
        </p:nvSpPr>
        <p:spPr>
          <a:xfrm>
            <a:off x="6583680" y="4636008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3"/>
          <p:cNvSpPr/>
          <p:nvPr/>
        </p:nvSpPr>
        <p:spPr>
          <a:xfrm>
            <a:off x="256032" y="4663440"/>
            <a:ext cx="201168" cy="128016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3"/>
          <p:cNvSpPr/>
          <p:nvPr/>
        </p:nvSpPr>
        <p:spPr>
          <a:xfrm>
            <a:off x="1440523" y="4636008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Fase 1 — Ajustes Críticos (0–30d)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3"/>
          <p:cNvSpPr/>
          <p:nvPr/>
        </p:nvSpPr>
        <p:spPr>
          <a:xfrm>
            <a:off x="3206506" y="4663440"/>
            <a:ext cx="201300" cy="12810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3"/>
          <p:cNvSpPr/>
          <p:nvPr/>
        </p:nvSpPr>
        <p:spPr>
          <a:xfrm>
            <a:off x="3380373" y="4636008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Fase 2 — Consolidação (1–3M)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3"/>
          <p:cNvSpPr/>
          <p:nvPr/>
        </p:nvSpPr>
        <p:spPr>
          <a:xfrm>
            <a:off x="5023109" y="4663440"/>
            <a:ext cx="201300" cy="1281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3"/>
          <p:cNvSpPr/>
          <p:nvPr/>
        </p:nvSpPr>
        <p:spPr>
          <a:xfrm>
            <a:off x="5180543" y="4636008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Fase 3 — Evolução (3–6M)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3"/>
          <p:cNvSpPr/>
          <p:nvPr/>
        </p:nvSpPr>
        <p:spPr>
          <a:xfrm>
            <a:off x="6839712" y="4663440"/>
            <a:ext cx="201168" cy="128016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3"/>
          <p:cNvSpPr/>
          <p:nvPr/>
        </p:nvSpPr>
        <p:spPr>
          <a:xfrm>
            <a:off x="7095744" y="463600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Fase 4 — Governança (6–12M)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4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4"/>
          <p:cNvSpPr/>
          <p:nvPr/>
        </p:nvSpPr>
        <p:spPr>
          <a:xfrm>
            <a:off x="0" y="3493008"/>
            <a:ext cx="9144000" cy="50292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4"/>
          <p:cNvSpPr/>
          <p:nvPr/>
        </p:nvSpPr>
        <p:spPr>
          <a:xfrm>
            <a:off x="777240" y="502920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VISÃO DE MATURIDADE ANALÍTICA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4"/>
          <p:cNvSpPr/>
          <p:nvPr/>
        </p:nvSpPr>
        <p:spPr>
          <a:xfrm>
            <a:off x="777240" y="877824"/>
            <a:ext cx="77724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mockup a operação analítica madura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 12 meses.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777240" y="1847088"/>
            <a:ext cx="1883664" cy="804672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4"/>
          <p:cNvSpPr/>
          <p:nvPr/>
        </p:nvSpPr>
        <p:spPr>
          <a:xfrm>
            <a:off x="777240" y="1847088"/>
            <a:ext cx="1883664" cy="50292"/>
          </a:xfrm>
          <a:prstGeom prst="rect">
            <a:avLst/>
          </a:prstGeom>
          <a:solidFill>
            <a:srgbClr val="EC7000"/>
          </a:solidFill>
          <a:ln cap="flat" cmpd="sng" w="12700">
            <a:solidFill>
              <a:srgbClr val="EC7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4"/>
          <p:cNvSpPr/>
          <p:nvPr/>
        </p:nvSpPr>
        <p:spPr>
          <a:xfrm>
            <a:off x="850392" y="19019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7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C7000"/>
                </a:solidFill>
                <a:latin typeface="Arial"/>
                <a:ea typeface="Arial"/>
                <a:cs typeface="Arial"/>
                <a:sym typeface="Arial"/>
              </a:rPr>
              <a:t>HOJE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850392" y="221284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Mockup HTML validado · Views SQL prontas · Base tratada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2807208" y="1847088"/>
            <a:ext cx="1883664" cy="804672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4"/>
          <p:cNvSpPr/>
          <p:nvPr/>
        </p:nvSpPr>
        <p:spPr>
          <a:xfrm>
            <a:off x="2807208" y="1847088"/>
            <a:ext cx="1883664" cy="5029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4"/>
          <p:cNvSpPr/>
          <p:nvPr/>
        </p:nvSpPr>
        <p:spPr>
          <a:xfrm>
            <a:off x="2880360" y="19019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3 MESES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4"/>
          <p:cNvSpPr/>
          <p:nvPr/>
        </p:nvSpPr>
        <p:spPr>
          <a:xfrm>
            <a:off x="2880360" y="221284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Pipeline automatizado · Views em produção · QWs entregues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4837176" y="1847088"/>
            <a:ext cx="1883664" cy="804672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4"/>
          <p:cNvSpPr/>
          <p:nvPr/>
        </p:nvSpPr>
        <p:spPr>
          <a:xfrm>
            <a:off x="4837176" y="1847088"/>
            <a:ext cx="1883664" cy="50292"/>
          </a:xfrm>
          <a:prstGeom prst="rect">
            <a:avLst/>
          </a:prstGeom>
          <a:solidFill>
            <a:srgbClr val="1A7F4B"/>
          </a:solidFill>
          <a:ln cap="flat" cmpd="sng" w="12700">
            <a:solidFill>
              <a:srgbClr val="1A7F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4"/>
          <p:cNvSpPr/>
          <p:nvPr/>
        </p:nvSpPr>
        <p:spPr>
          <a:xfrm>
            <a:off x="4910328" y="19019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4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7F4B"/>
                </a:solidFill>
                <a:latin typeface="Arial"/>
                <a:ea typeface="Arial"/>
                <a:cs typeface="Arial"/>
                <a:sym typeface="Arial"/>
              </a:rPr>
              <a:t>6 MESES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4"/>
          <p:cNvSpPr/>
          <p:nvPr/>
        </p:nvSpPr>
        <p:spPr>
          <a:xfrm>
            <a:off x="4910328" y="221284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QuickSight nativo · Alertas ativos · Crise operacionalizada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4"/>
          <p:cNvSpPr/>
          <p:nvPr/>
        </p:nvSpPr>
        <p:spPr>
          <a:xfrm>
            <a:off x="6867144" y="1847088"/>
            <a:ext cx="1883664" cy="804672"/>
          </a:xfrm>
          <a:prstGeom prst="rect">
            <a:avLst/>
          </a:prstGeom>
          <a:solidFill>
            <a:srgbClr val="1C3450"/>
          </a:solidFill>
          <a:ln cap="flat" cmpd="sng" w="12700">
            <a:solidFill>
              <a:srgbClr val="1C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4"/>
          <p:cNvSpPr/>
          <p:nvPr/>
        </p:nvSpPr>
        <p:spPr>
          <a:xfrm>
            <a:off x="6867144" y="1847088"/>
            <a:ext cx="1883664" cy="50292"/>
          </a:xfrm>
          <a:prstGeom prst="rect">
            <a:avLst/>
          </a:prstGeom>
          <a:solidFill>
            <a:srgbClr val="1A73B5"/>
          </a:solidFill>
          <a:ln cap="flat" cmpd="sng" w="12700">
            <a:solidFill>
              <a:srgbClr val="1A73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4"/>
          <p:cNvSpPr/>
          <p:nvPr/>
        </p:nvSpPr>
        <p:spPr>
          <a:xfrm>
            <a:off x="6940296" y="19019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3B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A73B5"/>
                </a:solidFill>
                <a:latin typeface="Arial"/>
                <a:ea typeface="Arial"/>
                <a:cs typeface="Arial"/>
                <a:sym typeface="Arial"/>
              </a:rPr>
              <a:t>12 MESES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4"/>
          <p:cNvSpPr/>
          <p:nvPr/>
        </p:nvSpPr>
        <p:spPr>
          <a:xfrm>
            <a:off x="6940296" y="2212848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Governança madura · Stress tests · Expansão da carteira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4"/>
          <p:cNvSpPr/>
          <p:nvPr/>
        </p:nvSpPr>
        <p:spPr>
          <a:xfrm>
            <a:off x="777240" y="2834640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A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D1A0"/>
                </a:solidFill>
                <a:latin typeface="Arial"/>
                <a:ea typeface="Arial"/>
                <a:cs typeface="Arial"/>
                <a:sym typeface="Arial"/>
              </a:rPr>
              <a:t>Ganhos esperados ao final da jornada: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4"/>
          <p:cNvSpPr/>
          <p:nvPr/>
        </p:nvSpPr>
        <p:spPr>
          <a:xfrm>
            <a:off x="777240" y="310896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EE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4DEE8"/>
                </a:solidFill>
                <a:latin typeface="Arial"/>
                <a:ea typeface="Arial"/>
                <a:cs typeface="Arial"/>
                <a:sym typeface="Arial"/>
              </a:rPr>
              <a:t>✓ Risco regulatório eliminado (Tecnologia &lt; 15%)  ·  ✓ PD monitorada &lt; 2%  ·  ✓ Crise operacionalizada &lt; 30 min  ·  ✓ Pricing alinhado ao risco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4"/>
          <p:cNvSpPr/>
          <p:nvPr/>
        </p:nvSpPr>
        <p:spPr>
          <a:xfrm>
            <a:off x="777240" y="3712464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AAB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9AAB5"/>
                </a:solidFill>
                <a:latin typeface="Arial"/>
                <a:ea typeface="Arial"/>
                <a:cs typeface="Arial"/>
                <a:sym typeface="Arial"/>
              </a:rPr>
              <a:t>Igor  |  Plano de Implementação Crédito BBA  |  Março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777240" y="3986784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Stack: SQL Server · Amazon Athena (Presto/Trino) · Amazon QuickSight  |  16 Views SQL · 4 Fases · 6 Frentes de Trabalho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2026-03-16T19:32:12Z</dcterms:created>
  <dc:creator>Igor</dc:creator>
</cp:coreProperties>
</file>